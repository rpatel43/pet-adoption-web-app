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fcc24b9c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fcc24b9c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fcc24b9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fcc24b9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fcc24b9c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3fcc24b9c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fcc24b9c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fcc24b9c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fe6db49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fe6db49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fe6db490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3fe6db490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3fe6db490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3fe6db490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3fe6db490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3fe6db490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fe6db490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fe6db490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3fe6db490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3fe6db490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fe6db490e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3fe6db490e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3fe6db490e_5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3fe6db490e_5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fe6db490e_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3fe6db490e_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Milestone 2</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600"/>
              <a:t>Core Features</a:t>
            </a:r>
            <a:endParaRPr sz="1600"/>
          </a:p>
          <a:p>
            <a:pPr indent="-330200" lvl="0" marL="457200" rtl="0" algn="l">
              <a:spcBef>
                <a:spcPts val="1200"/>
              </a:spcBef>
              <a:spcAft>
                <a:spcPts val="0"/>
              </a:spcAft>
              <a:buSzPts val="1600"/>
              <a:buAutoNum type="arabicPeriod"/>
            </a:pPr>
            <a:r>
              <a:rPr lang="en" sz="1600"/>
              <a:t>Some sort of login and registration page</a:t>
            </a:r>
            <a:endParaRPr sz="1600"/>
          </a:p>
          <a:p>
            <a:pPr indent="-330200" lvl="0" marL="457200" rtl="0" algn="l">
              <a:spcBef>
                <a:spcPts val="0"/>
              </a:spcBef>
              <a:spcAft>
                <a:spcPts val="0"/>
              </a:spcAft>
              <a:buSzPts val="1600"/>
              <a:buAutoNum type="arabicPeriod"/>
            </a:pPr>
            <a:r>
              <a:rPr lang="en" sz="1600"/>
              <a:t>Select a pet to adopt (pet listings)</a:t>
            </a:r>
            <a:endParaRPr sz="1600"/>
          </a:p>
          <a:p>
            <a:pPr indent="-330200" lvl="0" marL="457200" rtl="0" algn="l">
              <a:spcBef>
                <a:spcPts val="0"/>
              </a:spcBef>
              <a:spcAft>
                <a:spcPts val="0"/>
              </a:spcAft>
              <a:buSzPts val="1600"/>
              <a:buAutoNum type="arabicPeriod"/>
            </a:pPr>
            <a:r>
              <a:rPr lang="en" sz="1600"/>
              <a:t>Some sort of filter or search to narrow down listings</a:t>
            </a:r>
            <a:endParaRPr sz="1600"/>
          </a:p>
          <a:p>
            <a:pPr indent="-330200" lvl="0" marL="457200" rtl="0" algn="l">
              <a:spcBef>
                <a:spcPts val="0"/>
              </a:spcBef>
              <a:spcAft>
                <a:spcPts val="0"/>
              </a:spcAft>
              <a:buSzPts val="1600"/>
              <a:buAutoNum type="arabicPeriod"/>
            </a:pPr>
            <a:r>
              <a:rPr lang="en" sz="1600"/>
              <a:t>Pet profiles</a:t>
            </a:r>
            <a:endParaRPr sz="1600"/>
          </a:p>
          <a:p>
            <a:pPr indent="-304800" lvl="1" marL="914400" rtl="0" algn="l">
              <a:spcBef>
                <a:spcPts val="0"/>
              </a:spcBef>
              <a:spcAft>
                <a:spcPts val="0"/>
              </a:spcAft>
              <a:buSzPts val="1200"/>
              <a:buAutoNum type="alphaLcPeriod"/>
            </a:pPr>
            <a:r>
              <a:rPr lang="en" sz="1200"/>
              <a:t>Include an image or image(s) with a biography and plenty of detail</a:t>
            </a:r>
            <a:endParaRPr sz="1200"/>
          </a:p>
          <a:p>
            <a:pPr indent="-304800" lvl="1" marL="914400" rtl="0" algn="l">
              <a:spcBef>
                <a:spcPts val="0"/>
              </a:spcBef>
              <a:spcAft>
                <a:spcPts val="0"/>
              </a:spcAft>
              <a:buSzPts val="1200"/>
              <a:buAutoNum type="alphaLcPeriod"/>
            </a:pPr>
            <a:r>
              <a:rPr lang="en" sz="1200"/>
              <a:t>Health info, personality, etc.</a:t>
            </a:r>
            <a:endParaRPr sz="1200"/>
          </a:p>
          <a:p>
            <a:pPr indent="-330200" lvl="0" marL="457200" rtl="0" algn="l">
              <a:spcBef>
                <a:spcPts val="0"/>
              </a:spcBef>
              <a:spcAft>
                <a:spcPts val="0"/>
              </a:spcAft>
              <a:buSzPts val="1600"/>
              <a:buAutoNum type="arabicPeriod"/>
            </a:pPr>
            <a:r>
              <a:rPr lang="en" sz="1600"/>
              <a:t>Some sort of </a:t>
            </a:r>
            <a:r>
              <a:rPr lang="en" sz="1600"/>
              <a:t>application</a:t>
            </a:r>
            <a:r>
              <a:rPr lang="en" sz="1600"/>
              <a:t> page to apply for a listed pet</a:t>
            </a:r>
            <a:endParaRPr sz="1600"/>
          </a:p>
          <a:p>
            <a:pPr indent="0" lvl="0" marL="0" rtl="0" algn="l">
              <a:spcBef>
                <a:spcPts val="1200"/>
              </a:spcBef>
              <a:spcAft>
                <a:spcPts val="0"/>
              </a:spcAft>
              <a:buNone/>
            </a:pPr>
            <a:r>
              <a:rPr lang="en" sz="1600"/>
              <a:t>Extra (if time permits)</a:t>
            </a:r>
            <a:endParaRPr sz="1600"/>
          </a:p>
          <a:p>
            <a:pPr indent="-330200" lvl="0" marL="457200" rtl="0" algn="l">
              <a:spcBef>
                <a:spcPts val="1200"/>
              </a:spcBef>
              <a:spcAft>
                <a:spcPts val="0"/>
              </a:spcAft>
              <a:buSzPts val="1600"/>
              <a:buAutoNum type="arabicPeriod"/>
            </a:pPr>
            <a:r>
              <a:rPr lang="en" sz="1600"/>
              <a:t>Some sort of contact form to reach out to the shelter</a:t>
            </a:r>
            <a:endParaRPr sz="1600"/>
          </a:p>
          <a:p>
            <a:pPr indent="-330200" lvl="0" marL="457200" rtl="0" algn="l">
              <a:spcBef>
                <a:spcPts val="0"/>
              </a:spcBef>
              <a:spcAft>
                <a:spcPts val="0"/>
              </a:spcAft>
              <a:buSzPts val="1600"/>
              <a:buAutoNum type="arabicPeriod"/>
            </a:pPr>
            <a:r>
              <a:rPr lang="en" sz="1600"/>
              <a:t>Favorites list</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Ronit’s Persona </a:t>
            </a:r>
            <a:endParaRPr/>
          </a:p>
        </p:txBody>
      </p:sp>
      <p:sp>
        <p:nvSpPr>
          <p:cNvPr id="67" name="Google Shape;67;p15"/>
          <p:cNvSpPr txBox="1"/>
          <p:nvPr>
            <p:ph idx="1" type="body"/>
          </p:nvPr>
        </p:nvSpPr>
        <p:spPr>
          <a:xfrm>
            <a:off x="311700" y="3190425"/>
            <a:ext cx="2360100" cy="18540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sz="2400"/>
              <a:t>Mark</a:t>
            </a:r>
            <a:endParaRPr sz="2400"/>
          </a:p>
          <a:p>
            <a:pPr indent="0" lvl="0" marL="0" rtl="0" algn="l">
              <a:spcBef>
                <a:spcPts val="1200"/>
              </a:spcBef>
              <a:spcAft>
                <a:spcPts val="0"/>
              </a:spcAft>
              <a:buNone/>
            </a:pPr>
            <a:r>
              <a:rPr lang="en"/>
              <a:t>About:</a:t>
            </a:r>
            <a:endParaRPr/>
          </a:p>
          <a:p>
            <a:pPr indent="0" lvl="0" marL="0" rtl="0" algn="l">
              <a:spcBef>
                <a:spcPts val="1200"/>
              </a:spcBef>
              <a:spcAft>
                <a:spcPts val="0"/>
              </a:spcAft>
              <a:buNone/>
            </a:pPr>
            <a:r>
              <a:rPr lang="en" sz="1400"/>
              <a:t>Age: 30</a:t>
            </a:r>
            <a:endParaRPr sz="1400"/>
          </a:p>
          <a:p>
            <a:pPr indent="0" lvl="0" marL="0" rtl="0" algn="l">
              <a:spcBef>
                <a:spcPts val="1200"/>
              </a:spcBef>
              <a:spcAft>
                <a:spcPts val="0"/>
              </a:spcAft>
              <a:buNone/>
            </a:pPr>
            <a:r>
              <a:rPr lang="en" sz="1400"/>
              <a:t>Location: Hartford, CT</a:t>
            </a:r>
            <a:endParaRPr sz="1400"/>
          </a:p>
          <a:p>
            <a:pPr indent="0" lvl="0" marL="0" rtl="0" algn="l">
              <a:spcBef>
                <a:spcPts val="1200"/>
              </a:spcBef>
              <a:spcAft>
                <a:spcPts val="1200"/>
              </a:spcAft>
              <a:buNone/>
            </a:pPr>
            <a:r>
              <a:t/>
            </a:r>
            <a:endParaRPr sz="1400"/>
          </a:p>
        </p:txBody>
      </p:sp>
      <p:pic>
        <p:nvPicPr>
          <p:cNvPr id="68" name="Google Shape;68;p15" title="istockphoto-1392528328-612x612.jpg"/>
          <p:cNvPicPr preferRelativeResize="0"/>
          <p:nvPr/>
        </p:nvPicPr>
        <p:blipFill>
          <a:blip r:embed="rId3">
            <a:alphaModFix/>
          </a:blip>
          <a:stretch>
            <a:fillRect/>
          </a:stretch>
        </p:blipFill>
        <p:spPr>
          <a:xfrm>
            <a:off x="311700" y="1482300"/>
            <a:ext cx="2360049" cy="1573375"/>
          </a:xfrm>
          <a:prstGeom prst="rect">
            <a:avLst/>
          </a:prstGeom>
          <a:noFill/>
          <a:ln>
            <a:noFill/>
          </a:ln>
        </p:spPr>
      </p:pic>
      <p:sp>
        <p:nvSpPr>
          <p:cNvPr id="69" name="Google Shape;69;p15"/>
          <p:cNvSpPr txBox="1"/>
          <p:nvPr>
            <p:ph idx="1" type="body"/>
          </p:nvPr>
        </p:nvSpPr>
        <p:spPr>
          <a:xfrm>
            <a:off x="3290200" y="1436875"/>
            <a:ext cx="5542200" cy="3391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1760"/>
              <a:t>Bio:</a:t>
            </a:r>
            <a:endParaRPr sz="1760"/>
          </a:p>
          <a:p>
            <a:pPr indent="0" lvl="0" marL="0" rtl="0" algn="l">
              <a:lnSpc>
                <a:spcPct val="95000"/>
              </a:lnSpc>
              <a:spcBef>
                <a:spcPts val="1200"/>
              </a:spcBef>
              <a:spcAft>
                <a:spcPts val="0"/>
              </a:spcAft>
              <a:buSzPts val="770"/>
              <a:buNone/>
            </a:pPr>
            <a:r>
              <a:rPr lang="en" sz="1480"/>
              <a:t>Mark has been looking to adopt a dog for a few months. He has tried going to adoption centers in person but has struggled to find what he is looking for. He is now trying an online pet adoption app as a potential solution. </a:t>
            </a:r>
            <a:endParaRPr sz="1760"/>
          </a:p>
          <a:p>
            <a:pPr indent="0" lvl="0" marL="0" rtl="0" algn="l">
              <a:lnSpc>
                <a:spcPct val="95000"/>
              </a:lnSpc>
              <a:spcBef>
                <a:spcPts val="1200"/>
              </a:spcBef>
              <a:spcAft>
                <a:spcPts val="0"/>
              </a:spcAft>
              <a:buSzPts val="770"/>
              <a:buNone/>
            </a:pPr>
            <a:r>
              <a:rPr lang="en" sz="1760"/>
              <a:t>Goals:</a:t>
            </a:r>
            <a:endParaRPr sz="1760"/>
          </a:p>
          <a:p>
            <a:pPr indent="-322580" lvl="0" marL="457200" rtl="0" algn="l">
              <a:lnSpc>
                <a:spcPct val="95000"/>
              </a:lnSpc>
              <a:spcBef>
                <a:spcPts val="1200"/>
              </a:spcBef>
              <a:spcAft>
                <a:spcPts val="0"/>
              </a:spcAft>
              <a:buSzPts val="1480"/>
              <a:buChar char="●"/>
            </a:pPr>
            <a:r>
              <a:rPr lang="en" sz="1480"/>
              <a:t>Adopt a pet dog</a:t>
            </a:r>
            <a:endParaRPr sz="1480"/>
          </a:p>
          <a:p>
            <a:pPr indent="-322580" lvl="0" marL="457200" rtl="0" algn="l">
              <a:lnSpc>
                <a:spcPct val="95000"/>
              </a:lnSpc>
              <a:spcBef>
                <a:spcPts val="0"/>
              </a:spcBef>
              <a:spcAft>
                <a:spcPts val="0"/>
              </a:spcAft>
              <a:buSzPts val="1480"/>
              <a:buChar char="●"/>
            </a:pPr>
            <a:r>
              <a:rPr lang="en" sz="1480"/>
              <a:t>Adopt a Golden </a:t>
            </a:r>
            <a:r>
              <a:rPr lang="en" sz="1480"/>
              <a:t>Retriever</a:t>
            </a:r>
            <a:r>
              <a:rPr lang="en" sz="1480"/>
              <a:t> </a:t>
            </a:r>
            <a:endParaRPr sz="1480"/>
          </a:p>
          <a:p>
            <a:pPr indent="0" lvl="0" marL="0" rtl="0" algn="l">
              <a:lnSpc>
                <a:spcPct val="95000"/>
              </a:lnSpc>
              <a:spcBef>
                <a:spcPts val="1200"/>
              </a:spcBef>
              <a:spcAft>
                <a:spcPts val="0"/>
              </a:spcAft>
              <a:buSzPts val="770"/>
              <a:buNone/>
            </a:pPr>
            <a:r>
              <a:rPr lang="en" sz="1760"/>
              <a:t>Frustrations:</a:t>
            </a:r>
            <a:endParaRPr sz="1760"/>
          </a:p>
          <a:p>
            <a:pPr indent="-322580" lvl="0" marL="457200" rtl="0" algn="l">
              <a:lnSpc>
                <a:spcPct val="95000"/>
              </a:lnSpc>
              <a:spcBef>
                <a:spcPts val="1200"/>
              </a:spcBef>
              <a:spcAft>
                <a:spcPts val="0"/>
              </a:spcAft>
              <a:buSzPts val="1480"/>
              <a:buChar char="●"/>
            </a:pPr>
            <a:r>
              <a:rPr lang="en" sz="1480"/>
              <a:t>Has struggled finding the right dog breed in his area </a:t>
            </a:r>
            <a:endParaRPr sz="1480"/>
          </a:p>
          <a:p>
            <a:pPr indent="0" lvl="0" marL="0" rtl="0" algn="l">
              <a:lnSpc>
                <a:spcPct val="95000"/>
              </a:lnSpc>
              <a:spcBef>
                <a:spcPts val="1200"/>
              </a:spcBef>
              <a:spcAft>
                <a:spcPts val="1200"/>
              </a:spcAft>
              <a:buSzPts val="770"/>
              <a:buNone/>
            </a:pPr>
            <a:r>
              <a:t/>
            </a:r>
            <a:endParaRPr sz="148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Ronit’s scenario</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Marks logs in to the application</a:t>
            </a:r>
            <a:endParaRPr/>
          </a:p>
          <a:p>
            <a:pPr indent="0" lvl="0" marL="0" rtl="0" algn="l">
              <a:spcBef>
                <a:spcPts val="1200"/>
              </a:spcBef>
              <a:spcAft>
                <a:spcPts val="0"/>
              </a:spcAft>
              <a:buNone/>
            </a:pPr>
            <a:r>
              <a:rPr lang="en"/>
              <a:t>Mark fills out an online questionnaire on the website </a:t>
            </a:r>
            <a:endParaRPr/>
          </a:p>
          <a:p>
            <a:pPr indent="0" lvl="0" marL="0" rtl="0" algn="l">
              <a:spcBef>
                <a:spcPts val="1200"/>
              </a:spcBef>
              <a:spcAft>
                <a:spcPts val="0"/>
              </a:spcAft>
              <a:buNone/>
            </a:pPr>
            <a:r>
              <a:rPr lang="en"/>
              <a:t>Mark waits for the questionnaire to be approved by PAO management </a:t>
            </a:r>
            <a:endParaRPr/>
          </a:p>
          <a:p>
            <a:pPr indent="0" lvl="0" marL="0" rtl="0" algn="l">
              <a:spcBef>
                <a:spcPts val="1200"/>
              </a:spcBef>
              <a:spcAft>
                <a:spcPts val="0"/>
              </a:spcAft>
              <a:buNone/>
            </a:pPr>
            <a:r>
              <a:rPr lang="en"/>
              <a:t>Mark searches for a golden </a:t>
            </a:r>
            <a:r>
              <a:rPr lang="en"/>
              <a:t>retriever</a:t>
            </a:r>
            <a:r>
              <a:rPr lang="en"/>
              <a:t> </a:t>
            </a:r>
            <a:endParaRPr/>
          </a:p>
          <a:p>
            <a:pPr indent="0" lvl="0" marL="0" rtl="0" algn="l">
              <a:spcBef>
                <a:spcPts val="1200"/>
              </a:spcBef>
              <a:spcAft>
                <a:spcPts val="1200"/>
              </a:spcAft>
              <a:buNone/>
            </a:pPr>
            <a:r>
              <a:rPr lang="en"/>
              <a:t>Marks selects the golden </a:t>
            </a:r>
            <a:r>
              <a:rPr lang="en"/>
              <a:t>retriever</a:t>
            </a:r>
            <a:r>
              <a:rPr lang="en"/>
              <a:t> to adopt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Ronit’s user stories </a:t>
            </a:r>
            <a:endParaRPr/>
          </a:p>
        </p:txBody>
      </p:sp>
      <p:sp>
        <p:nvSpPr>
          <p:cNvPr id="81" name="Google Shape;81;p17"/>
          <p:cNvSpPr txBox="1"/>
          <p:nvPr>
            <p:ph idx="1" type="body"/>
          </p:nvPr>
        </p:nvSpPr>
        <p:spPr>
          <a:xfrm>
            <a:off x="311700" y="1152475"/>
            <a:ext cx="8520600" cy="3644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As an adopter, Mark wants to be able to search for certain breeds so that he can adopt a Golden Retriever.</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As an adopter, Mark wants to see pictures of the pets so that he can see what the pet he is going to adopt looks like.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As an adopter, Mark wants to know where the pet is located so he can see how far he has to go to adopt it. </a:t>
            </a:r>
            <a:endParaRPr/>
          </a:p>
          <a:p>
            <a:pPr indent="0" lvl="0" marL="0" rtl="0" algn="l">
              <a:spcBef>
                <a:spcPts val="1200"/>
              </a:spcBef>
              <a:spcAft>
                <a:spcPts val="120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Joseph P. Persona</a:t>
            </a:r>
            <a:endParaRPr/>
          </a:p>
        </p:txBody>
      </p:sp>
      <p:sp>
        <p:nvSpPr>
          <p:cNvPr id="87" name="Google Shape;87;p18"/>
          <p:cNvSpPr txBox="1"/>
          <p:nvPr/>
        </p:nvSpPr>
        <p:spPr>
          <a:xfrm>
            <a:off x="479800" y="3002750"/>
            <a:ext cx="263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8" name="Google Shape;88;p18"/>
          <p:cNvSpPr txBox="1"/>
          <p:nvPr/>
        </p:nvSpPr>
        <p:spPr>
          <a:xfrm>
            <a:off x="875850" y="3081925"/>
            <a:ext cx="90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Sarah</a:t>
            </a:r>
            <a:endParaRPr b="1" sz="1800">
              <a:solidFill>
                <a:schemeClr val="dk2"/>
              </a:solidFill>
            </a:endParaRPr>
          </a:p>
        </p:txBody>
      </p:sp>
      <p:sp>
        <p:nvSpPr>
          <p:cNvPr id="89" name="Google Shape;89;p18"/>
          <p:cNvSpPr txBox="1"/>
          <p:nvPr/>
        </p:nvSpPr>
        <p:spPr>
          <a:xfrm>
            <a:off x="311700" y="3622800"/>
            <a:ext cx="20331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2"/>
                </a:solidFill>
              </a:rPr>
              <a:t>About</a:t>
            </a:r>
            <a:endParaRPr sz="1800" u="sng">
              <a:solidFill>
                <a:schemeClr val="dk2"/>
              </a:solidFill>
            </a:endParaRPr>
          </a:p>
          <a:p>
            <a:pPr indent="0" lvl="0" marL="0" rtl="0" algn="l">
              <a:spcBef>
                <a:spcPts val="0"/>
              </a:spcBef>
              <a:spcAft>
                <a:spcPts val="0"/>
              </a:spcAft>
              <a:buNone/>
            </a:pPr>
            <a:r>
              <a:rPr lang="en" sz="1200">
                <a:solidFill>
                  <a:schemeClr val="dk2"/>
                </a:solidFill>
              </a:rPr>
              <a:t>Age: 19</a:t>
            </a:r>
            <a:endParaRPr sz="1200">
              <a:solidFill>
                <a:schemeClr val="dk2"/>
              </a:solidFill>
            </a:endParaRPr>
          </a:p>
          <a:p>
            <a:pPr indent="0" lvl="0" marL="0" rtl="0" algn="l">
              <a:spcBef>
                <a:spcPts val="0"/>
              </a:spcBef>
              <a:spcAft>
                <a:spcPts val="0"/>
              </a:spcAft>
              <a:buNone/>
            </a:pPr>
            <a:r>
              <a:rPr lang="en" sz="1200">
                <a:solidFill>
                  <a:schemeClr val="dk2"/>
                </a:solidFill>
              </a:rPr>
              <a:t>Location: Waterbury, CT</a:t>
            </a:r>
            <a:endParaRPr sz="1200">
              <a:solidFill>
                <a:schemeClr val="dk2"/>
              </a:solidFill>
            </a:endParaRPr>
          </a:p>
          <a:p>
            <a:pPr indent="0" lvl="0" marL="0" rtl="0" algn="l">
              <a:spcBef>
                <a:spcPts val="0"/>
              </a:spcBef>
              <a:spcAft>
                <a:spcPts val="0"/>
              </a:spcAft>
              <a:buNone/>
            </a:pPr>
            <a:r>
              <a:rPr lang="en" sz="1200">
                <a:solidFill>
                  <a:schemeClr val="dk2"/>
                </a:solidFill>
              </a:rPr>
              <a:t>Job: Retail</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
        <p:nvSpPr>
          <p:cNvPr id="90" name="Google Shape;90;p18"/>
          <p:cNvSpPr txBox="1"/>
          <p:nvPr/>
        </p:nvSpPr>
        <p:spPr>
          <a:xfrm>
            <a:off x="2634775" y="1193375"/>
            <a:ext cx="5802300" cy="381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Biography</a:t>
            </a:r>
            <a:endParaRPr sz="1800">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Sarah lives at home with her parents and already has 3 dogs; Chloe, Cleo and Coco. However, she really enjoys going on social media and pet sites to look at all of the animals as a </a:t>
            </a:r>
            <a:r>
              <a:rPr lang="en">
                <a:solidFill>
                  <a:schemeClr val="dk2"/>
                </a:solidFill>
              </a:rPr>
              <a:t>pastime</a:t>
            </a:r>
            <a:r>
              <a:rPr lang="en">
                <a:solidFill>
                  <a:schemeClr val="dk2"/>
                </a:solidFill>
              </a:rPr>
              <a:t> </a:t>
            </a:r>
            <a:r>
              <a:rPr lang="en">
                <a:solidFill>
                  <a:schemeClr val="dk2"/>
                </a:solidFill>
              </a:rPr>
              <a:t>activity</a:t>
            </a:r>
            <a:r>
              <a:rPr lang="en">
                <a:solidFill>
                  <a:schemeClr val="dk2"/>
                </a:solidFill>
              </a:rPr>
              <a:t>. Therefore, she has found this new pet adoption website and is excited to see the pictures and read about all of the animals.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sz="1800">
                <a:solidFill>
                  <a:schemeClr val="dk2"/>
                </a:solidFill>
              </a:rPr>
              <a:t>Goals</a:t>
            </a:r>
            <a:endParaRPr sz="1800">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Use the pet adoption website to view all of the animals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sz="1800">
                <a:solidFill>
                  <a:schemeClr val="dk2"/>
                </a:solidFill>
              </a:rPr>
              <a:t>Past Frustrations</a:t>
            </a:r>
            <a:endParaRPr sz="1800">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Some </a:t>
            </a:r>
            <a:r>
              <a:rPr lang="en">
                <a:solidFill>
                  <a:schemeClr val="dk2"/>
                </a:solidFill>
              </a:rPr>
              <a:t>websites are clunky and make the pet viewing process annoying or difficult</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Some websites don’t include enough information about the pets, making it not as enjoyable to look and read about them.</a:t>
            </a:r>
            <a:endParaRPr>
              <a:solidFill>
                <a:schemeClr val="dk2"/>
              </a:solidFill>
            </a:endParaRPr>
          </a:p>
        </p:txBody>
      </p:sp>
      <p:pic>
        <p:nvPicPr>
          <p:cNvPr id="91" name="Google Shape;91;p18"/>
          <p:cNvPicPr preferRelativeResize="0"/>
          <p:nvPr/>
        </p:nvPicPr>
        <p:blipFill>
          <a:blip r:embed="rId3">
            <a:alphaModFix/>
          </a:blip>
          <a:stretch>
            <a:fillRect/>
          </a:stretch>
        </p:blipFill>
        <p:spPr>
          <a:xfrm>
            <a:off x="130963" y="1407951"/>
            <a:ext cx="2394575" cy="159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Joseph P. Scenario</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000"/>
              <a:t>Sarah creates a new profile</a:t>
            </a:r>
            <a:endParaRPr sz="2000"/>
          </a:p>
          <a:p>
            <a:pPr indent="0" lvl="0" marL="0" rtl="0" algn="l">
              <a:spcBef>
                <a:spcPts val="1200"/>
              </a:spcBef>
              <a:spcAft>
                <a:spcPts val="0"/>
              </a:spcAft>
              <a:buNone/>
            </a:pPr>
            <a:r>
              <a:rPr lang="en" sz="2000"/>
              <a:t>Sarah logs in and </a:t>
            </a:r>
            <a:r>
              <a:rPr lang="en" sz="2000"/>
              <a:t>navigates</a:t>
            </a:r>
            <a:r>
              <a:rPr lang="en" sz="2000"/>
              <a:t> to the home page</a:t>
            </a:r>
            <a:endParaRPr sz="2000"/>
          </a:p>
          <a:p>
            <a:pPr indent="0" lvl="0" marL="0" rtl="0" algn="l">
              <a:spcBef>
                <a:spcPts val="1200"/>
              </a:spcBef>
              <a:spcAft>
                <a:spcPts val="0"/>
              </a:spcAft>
              <a:buNone/>
            </a:pPr>
            <a:r>
              <a:rPr lang="en" sz="2000"/>
              <a:t>Sarah, w/o filling in a </a:t>
            </a:r>
            <a:r>
              <a:rPr lang="en" sz="2000"/>
              <a:t>questionnaire</a:t>
            </a:r>
            <a:r>
              <a:rPr lang="en" sz="2000"/>
              <a:t>, views the various animal listings</a:t>
            </a:r>
            <a:endParaRPr sz="2000"/>
          </a:p>
          <a:p>
            <a:pPr indent="0" lvl="0" marL="0" rtl="0" algn="l">
              <a:spcBef>
                <a:spcPts val="1200"/>
              </a:spcBef>
              <a:spcAft>
                <a:spcPts val="0"/>
              </a:spcAft>
              <a:buNone/>
            </a:pPr>
            <a:r>
              <a:rPr lang="en" sz="2000"/>
              <a:t>Sarah reads about the animals and views their picture(s)</a:t>
            </a:r>
            <a:endParaRPr sz="2000"/>
          </a:p>
          <a:p>
            <a:pPr indent="0" lvl="0" marL="0" rtl="0" algn="l">
              <a:spcBef>
                <a:spcPts val="1200"/>
              </a:spcBef>
              <a:spcAft>
                <a:spcPts val="0"/>
              </a:spcAft>
              <a:buNone/>
            </a:pPr>
            <a:r>
              <a:rPr lang="en" sz="2000"/>
              <a:t>Sarah searches for Golden Retrievers and Labrador dogs</a:t>
            </a:r>
            <a:endParaRPr sz="2000"/>
          </a:p>
          <a:p>
            <a:pPr indent="0" lvl="0" marL="0" rtl="0" algn="l">
              <a:spcBef>
                <a:spcPts val="1200"/>
              </a:spcBef>
              <a:spcAft>
                <a:spcPts val="0"/>
              </a:spcAft>
              <a:buNone/>
            </a:pPr>
            <a:r>
              <a:rPr lang="en" sz="2000"/>
              <a:t>Sarah reads about the animals and views their picture(s)</a:t>
            </a:r>
            <a:endParaRPr sz="2000"/>
          </a:p>
          <a:p>
            <a:pPr indent="0" lvl="0" marL="0" rtl="0" algn="l">
              <a:spcBef>
                <a:spcPts val="1200"/>
              </a:spcBef>
              <a:spcAft>
                <a:spcPts val="1200"/>
              </a:spcAft>
              <a:buNone/>
            </a:pPr>
            <a:r>
              <a:rPr lang="en" sz="2000"/>
              <a:t>Sarah logs out of the website</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Joseph P. User Stories</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As a user of the website, Sarah wants to be able to view all the animal listings without needing to fill in any application</a:t>
            </a:r>
            <a:endParaRPr/>
          </a:p>
          <a:p>
            <a:pPr indent="-342900" lvl="0" marL="457200" rtl="0" algn="l">
              <a:spcBef>
                <a:spcPts val="0"/>
              </a:spcBef>
              <a:spcAft>
                <a:spcPts val="0"/>
              </a:spcAft>
              <a:buSzPts val="1800"/>
              <a:buAutoNum type="arabicPeriod"/>
            </a:pPr>
            <a:r>
              <a:rPr lang="en"/>
              <a:t>As a user of the website, Sarah </a:t>
            </a:r>
            <a:r>
              <a:rPr lang="en"/>
              <a:t>wants to be able to easily find dogs based off of their breed</a:t>
            </a:r>
            <a:endParaRPr/>
          </a:p>
          <a:p>
            <a:pPr indent="-342900" lvl="0" marL="457200" rtl="0" algn="l">
              <a:spcBef>
                <a:spcPts val="0"/>
              </a:spcBef>
              <a:spcAft>
                <a:spcPts val="0"/>
              </a:spcAft>
              <a:buSzPts val="1800"/>
              <a:buAutoNum type="arabicPeriod"/>
            </a:pPr>
            <a:r>
              <a:rPr lang="en"/>
              <a:t>As a user of the website, Sarah wants it to be very easy to browse all of the animal listings without needing to </a:t>
            </a:r>
            <a:r>
              <a:rPr lang="en"/>
              <a:t>constantly</a:t>
            </a:r>
            <a:r>
              <a:rPr lang="en"/>
              <a:t> hit back on the webpage.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Saoudkhan Pathan</a:t>
            </a:r>
            <a:endParaRPr/>
          </a:p>
        </p:txBody>
      </p:sp>
      <p:pic>
        <p:nvPicPr>
          <p:cNvPr id="109" name="Google Shape;109;p21"/>
          <p:cNvPicPr preferRelativeResize="0"/>
          <p:nvPr/>
        </p:nvPicPr>
        <p:blipFill rotWithShape="1">
          <a:blip r:embed="rId3">
            <a:alphaModFix/>
          </a:blip>
          <a:srcRect b="0" l="18458" r="26995" t="0"/>
          <a:stretch/>
        </p:blipFill>
        <p:spPr>
          <a:xfrm>
            <a:off x="311700" y="1064750"/>
            <a:ext cx="2016650" cy="2464800"/>
          </a:xfrm>
          <a:prstGeom prst="rect">
            <a:avLst/>
          </a:prstGeom>
          <a:noFill/>
          <a:ln>
            <a:noFill/>
          </a:ln>
        </p:spPr>
      </p:pic>
      <p:sp>
        <p:nvSpPr>
          <p:cNvPr id="110" name="Google Shape;110;p21"/>
          <p:cNvSpPr txBox="1"/>
          <p:nvPr/>
        </p:nvSpPr>
        <p:spPr>
          <a:xfrm>
            <a:off x="916650" y="3529550"/>
            <a:ext cx="78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Jack</a:t>
            </a:r>
            <a:endParaRPr b="1" sz="1800">
              <a:solidFill>
                <a:schemeClr val="dk2"/>
              </a:solidFill>
            </a:endParaRPr>
          </a:p>
        </p:txBody>
      </p:sp>
      <p:sp>
        <p:nvSpPr>
          <p:cNvPr id="111" name="Google Shape;111;p21"/>
          <p:cNvSpPr txBox="1"/>
          <p:nvPr/>
        </p:nvSpPr>
        <p:spPr>
          <a:xfrm>
            <a:off x="2780525" y="1303700"/>
            <a:ext cx="5846400" cy="403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Bio</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Jamal lives alone and works remotely as a software developer at Apple. He recently moved into a pet-friendly apartment in NYC and is thinking about adopting a dog to keep him company during the day. Jamal works long hours and doesn’t want to waste time visiting shelters in the city that don’t have what he’s looking for and are </a:t>
            </a:r>
            <a:r>
              <a:rPr lang="en">
                <a:solidFill>
                  <a:schemeClr val="dk2"/>
                </a:solidFill>
              </a:rPr>
              <a:t>usually</a:t>
            </a:r>
            <a:r>
              <a:rPr lang="en">
                <a:solidFill>
                  <a:schemeClr val="dk2"/>
                </a:solidFill>
              </a:rPr>
              <a:t> packed. He’s exploring online adoption apps and values efficient filtering, accurate pet info, and a clean interface</a:t>
            </a:r>
            <a:endParaRPr>
              <a:solidFill>
                <a:schemeClr val="dk2"/>
              </a:solidFill>
            </a:endParaRPr>
          </a:p>
          <a:p>
            <a:pPr indent="0" lvl="0" marL="457200" rtl="0" algn="l">
              <a:spcBef>
                <a:spcPts val="0"/>
              </a:spcBef>
              <a:spcAft>
                <a:spcPts val="0"/>
              </a:spcAft>
              <a:buNone/>
            </a:pPr>
            <a:r>
              <a:t/>
            </a:r>
            <a:endParaRPr>
              <a:solidFill>
                <a:schemeClr val="dk2"/>
              </a:solidFill>
            </a:endParaRPr>
          </a:p>
          <a:p>
            <a:pPr indent="0" lvl="0" marL="0" rtl="0" algn="l">
              <a:spcBef>
                <a:spcPts val="0"/>
              </a:spcBef>
              <a:spcAft>
                <a:spcPts val="0"/>
              </a:spcAft>
              <a:buClr>
                <a:schemeClr val="dk1"/>
              </a:buClr>
              <a:buSzPts val="1100"/>
              <a:buFont typeface="Arial"/>
              <a:buNone/>
            </a:pPr>
            <a:r>
              <a:rPr b="1" lang="en" sz="1800">
                <a:solidFill>
                  <a:schemeClr val="dk2"/>
                </a:solidFill>
              </a:rPr>
              <a:t>Goals</a:t>
            </a:r>
            <a:endParaRPr b="1" sz="1800">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Adopt a medium-sized and low-maintenance dog</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Avoid wasting time with unnecessary shelter visits</a:t>
            </a:r>
            <a:endParaRPr>
              <a:solidFill>
                <a:schemeClr val="dk2"/>
              </a:solidFill>
            </a:endParaRPr>
          </a:p>
          <a:p>
            <a:pPr indent="0" lvl="0" marL="457200" rtl="0" algn="l">
              <a:spcBef>
                <a:spcPts val="0"/>
              </a:spcBef>
              <a:spcAft>
                <a:spcPts val="0"/>
              </a:spcAft>
              <a:buNone/>
            </a:pPr>
            <a:r>
              <a:t/>
            </a:r>
            <a:endParaRPr>
              <a:solidFill>
                <a:schemeClr val="dk2"/>
              </a:solidFill>
            </a:endParaRPr>
          </a:p>
          <a:p>
            <a:pPr indent="0" lvl="0" marL="0" rtl="0" algn="l">
              <a:spcBef>
                <a:spcPts val="0"/>
              </a:spcBef>
              <a:spcAft>
                <a:spcPts val="0"/>
              </a:spcAft>
              <a:buClr>
                <a:schemeClr val="dk1"/>
              </a:buClr>
              <a:buSzPts val="1100"/>
              <a:buFont typeface="Arial"/>
              <a:buNone/>
            </a:pPr>
            <a:r>
              <a:rPr b="1" lang="en" sz="1800">
                <a:solidFill>
                  <a:schemeClr val="dk2"/>
                </a:solidFill>
              </a:rPr>
              <a:t>Past Frustrations</a:t>
            </a:r>
            <a:endParaRPr b="1" sz="1800">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.Adoption sites with poor search filters</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Listings with no images and missing behavior info</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12" name="Google Shape;112;p21"/>
          <p:cNvSpPr txBox="1"/>
          <p:nvPr/>
        </p:nvSpPr>
        <p:spPr>
          <a:xfrm>
            <a:off x="234250" y="4023125"/>
            <a:ext cx="2128800" cy="7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25 </a:t>
            </a:r>
            <a:endParaRPr sz="1200">
              <a:solidFill>
                <a:schemeClr val="dk2"/>
              </a:solidFill>
            </a:endParaRPr>
          </a:p>
          <a:p>
            <a:pPr indent="0" lvl="0" marL="0" rtl="0" algn="l">
              <a:spcBef>
                <a:spcPts val="0"/>
              </a:spcBef>
              <a:spcAft>
                <a:spcPts val="0"/>
              </a:spcAft>
              <a:buNone/>
            </a:pPr>
            <a:r>
              <a:rPr lang="en" sz="1200">
                <a:solidFill>
                  <a:schemeClr val="dk2"/>
                </a:solidFill>
              </a:rPr>
              <a:t>Single </a:t>
            </a:r>
            <a:endParaRPr sz="1200">
              <a:solidFill>
                <a:schemeClr val="dk2"/>
              </a:solidFill>
            </a:endParaRPr>
          </a:p>
          <a:p>
            <a:pPr indent="0" lvl="0" marL="0" rtl="0" algn="l">
              <a:spcBef>
                <a:spcPts val="0"/>
              </a:spcBef>
              <a:spcAft>
                <a:spcPts val="0"/>
              </a:spcAft>
              <a:buNone/>
            </a:pPr>
            <a:r>
              <a:rPr lang="en" sz="1200">
                <a:solidFill>
                  <a:schemeClr val="dk2"/>
                </a:solidFill>
              </a:rPr>
              <a:t>New York City</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Saoudkhans </a:t>
            </a:r>
            <a:r>
              <a:rPr lang="en"/>
              <a:t>Scenario</a:t>
            </a:r>
            <a:endParaRPr/>
          </a:p>
          <a:p>
            <a:pPr indent="0" lvl="0" marL="0" rtl="0" algn="l">
              <a:spcBef>
                <a:spcPts val="0"/>
              </a:spcBef>
              <a:spcAft>
                <a:spcPts val="0"/>
              </a:spcAft>
              <a:buNone/>
            </a:pPr>
            <a:r>
              <a:t/>
            </a:r>
            <a:endParaRPr/>
          </a:p>
        </p:txBody>
      </p:sp>
      <p:sp>
        <p:nvSpPr>
          <p:cNvPr id="118" name="Google Shape;118;p22"/>
          <p:cNvSpPr txBox="1"/>
          <p:nvPr>
            <p:ph idx="1" type="body"/>
          </p:nvPr>
        </p:nvSpPr>
        <p:spPr>
          <a:xfrm>
            <a:off x="311700" y="1152475"/>
            <a:ext cx="8520600" cy="296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Jamal opens the pet adoption app during his lunch break</a:t>
            </a:r>
            <a:endParaRPr/>
          </a:p>
          <a:p>
            <a:pPr indent="0" lvl="0" marL="0" rtl="0" algn="l">
              <a:spcBef>
                <a:spcPts val="1200"/>
              </a:spcBef>
              <a:spcAft>
                <a:spcPts val="0"/>
              </a:spcAft>
              <a:buNone/>
            </a:pPr>
            <a:r>
              <a:rPr lang="en"/>
              <a:t>He creates a profile and selects his preferences: medium-sized dog with calm temperamen</a:t>
            </a:r>
            <a:r>
              <a:rPr lang="en"/>
              <a:t>ts</a:t>
            </a:r>
            <a:endParaRPr/>
          </a:p>
          <a:p>
            <a:pPr indent="0" lvl="0" marL="0" rtl="0" algn="l">
              <a:spcBef>
                <a:spcPts val="1200"/>
              </a:spcBef>
              <a:spcAft>
                <a:spcPts val="0"/>
              </a:spcAft>
              <a:buNone/>
            </a:pPr>
            <a:r>
              <a:rPr lang="en"/>
              <a:t>The app gives him a list of matches</a:t>
            </a:r>
            <a:endParaRPr/>
          </a:p>
          <a:p>
            <a:pPr indent="0" lvl="0" marL="0" rtl="0" algn="l">
              <a:spcBef>
                <a:spcPts val="1200"/>
              </a:spcBef>
              <a:spcAft>
                <a:spcPts val="0"/>
              </a:spcAft>
              <a:buNone/>
            </a:pPr>
            <a:r>
              <a:rPr lang="en"/>
              <a:t>He clicks on a dog named Riley and reads the full profile, including energy level, age, and training history</a:t>
            </a:r>
            <a:endParaRPr/>
          </a:p>
          <a:p>
            <a:pPr indent="0" lvl="0" marL="0" rtl="0" algn="l">
              <a:spcBef>
                <a:spcPts val="1200"/>
              </a:spcBef>
              <a:spcAft>
                <a:spcPts val="1200"/>
              </a:spcAft>
              <a:buNone/>
            </a:pPr>
            <a:r>
              <a:rPr lang="en"/>
              <a:t>He logs out, feeling confident that the app saved him hours of browsing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Saoudkhans U</a:t>
            </a:r>
            <a:r>
              <a:rPr lang="en"/>
              <a:t>ser Stories</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an adopter, Jack want to create a user profile with my pet preferences to receive better suggestions.</a:t>
            </a:r>
            <a:endParaRPr/>
          </a:p>
          <a:p>
            <a:pPr indent="0" lvl="0" marL="0" rtl="0" algn="l">
              <a:spcBef>
                <a:spcPts val="1200"/>
              </a:spcBef>
              <a:spcAft>
                <a:spcPts val="0"/>
              </a:spcAft>
              <a:buNone/>
            </a:pPr>
            <a:r>
              <a:rPr lang="en"/>
              <a:t>As an adopter, Jack want the app to be user-friendly so he can use it on breaks or during commutes.</a:t>
            </a:r>
            <a:endParaRPr/>
          </a:p>
          <a:p>
            <a:pPr indent="0" lvl="0" marL="0" rtl="0" algn="l">
              <a:spcBef>
                <a:spcPts val="1200"/>
              </a:spcBef>
              <a:spcAft>
                <a:spcPts val="1200"/>
              </a:spcAft>
              <a:buNone/>
            </a:pPr>
            <a:r>
              <a:rPr lang="en"/>
              <a:t>As an adopter, Jack wants the app to only show available pets so he does not get his hopes up for unavailable animals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Rayna Spicher’s Persona</a:t>
            </a:r>
            <a:endParaRPr/>
          </a:p>
        </p:txBody>
      </p:sp>
      <p:sp>
        <p:nvSpPr>
          <p:cNvPr id="130" name="Google Shape;130;p24"/>
          <p:cNvSpPr txBox="1"/>
          <p:nvPr>
            <p:ph idx="1" type="body"/>
          </p:nvPr>
        </p:nvSpPr>
        <p:spPr>
          <a:xfrm>
            <a:off x="2851100" y="1152475"/>
            <a:ext cx="5981100" cy="3823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Bio:</a:t>
            </a:r>
            <a:endParaRPr b="1"/>
          </a:p>
          <a:p>
            <a:pPr indent="0" lvl="0" marL="0" rtl="0" algn="l">
              <a:spcBef>
                <a:spcPts val="1200"/>
              </a:spcBef>
              <a:spcAft>
                <a:spcPts val="0"/>
              </a:spcAft>
              <a:buNone/>
            </a:pPr>
            <a:r>
              <a:rPr lang="en" sz="1400"/>
              <a:t>Caitlin has recently moved from a small apartment to a larger house. She has a cat, and is thinking about </a:t>
            </a:r>
            <a:r>
              <a:rPr lang="en" sz="1400"/>
              <a:t>adopting</a:t>
            </a:r>
            <a:r>
              <a:rPr lang="en" sz="1400"/>
              <a:t> a dog now that she has a larger living space. However, she is worried that she may not be able to find a dog that will get along with her cat. She is looking at various pet adoption websites to try and find a dog who would be the right fit. </a:t>
            </a:r>
            <a:endParaRPr sz="1400"/>
          </a:p>
          <a:p>
            <a:pPr indent="0" lvl="0" marL="0" rtl="0" algn="l">
              <a:spcBef>
                <a:spcPts val="1200"/>
              </a:spcBef>
              <a:spcAft>
                <a:spcPts val="0"/>
              </a:spcAft>
              <a:buNone/>
            </a:pPr>
            <a:r>
              <a:rPr b="1" lang="en" sz="1400"/>
              <a:t>Goals:</a:t>
            </a:r>
            <a:endParaRPr b="1" sz="1400"/>
          </a:p>
          <a:p>
            <a:pPr indent="-317500" lvl="0" marL="457200" rtl="0" algn="l">
              <a:spcBef>
                <a:spcPts val="1200"/>
              </a:spcBef>
              <a:spcAft>
                <a:spcPts val="0"/>
              </a:spcAft>
              <a:buSzPts val="1400"/>
              <a:buChar char="●"/>
            </a:pPr>
            <a:r>
              <a:rPr lang="en" sz="1400"/>
              <a:t>Adopt a small dog who is friendly and gets along with cats</a:t>
            </a:r>
            <a:endParaRPr sz="1400"/>
          </a:p>
          <a:p>
            <a:pPr indent="-317500" lvl="0" marL="457200" rtl="0" algn="l">
              <a:spcBef>
                <a:spcPts val="0"/>
              </a:spcBef>
              <a:spcAft>
                <a:spcPts val="0"/>
              </a:spcAft>
              <a:buSzPts val="1400"/>
              <a:buChar char="●"/>
            </a:pPr>
            <a:r>
              <a:rPr lang="en" sz="1400"/>
              <a:t>Use the pet adoption app to find the right dog for her</a:t>
            </a:r>
            <a:endParaRPr sz="1400"/>
          </a:p>
          <a:p>
            <a:pPr indent="0" lvl="0" marL="0" rtl="0" algn="l">
              <a:spcBef>
                <a:spcPts val="1200"/>
              </a:spcBef>
              <a:spcAft>
                <a:spcPts val="0"/>
              </a:spcAft>
              <a:buNone/>
            </a:pPr>
            <a:r>
              <a:rPr b="1" lang="en" sz="1400"/>
              <a:t>Past Frustrations:</a:t>
            </a:r>
            <a:endParaRPr b="1" sz="1400"/>
          </a:p>
          <a:p>
            <a:pPr indent="-317500" lvl="0" marL="457200" rtl="0" algn="l">
              <a:spcBef>
                <a:spcPts val="1200"/>
              </a:spcBef>
              <a:spcAft>
                <a:spcPts val="0"/>
              </a:spcAft>
              <a:buSzPts val="1400"/>
              <a:buChar char="●"/>
            </a:pPr>
            <a:r>
              <a:rPr lang="en" sz="1400"/>
              <a:t>Some websites do not include the personalities of the pets, making it hard to find a pet that would get along with her cat. </a:t>
            </a:r>
            <a:endParaRPr sz="1400"/>
          </a:p>
          <a:p>
            <a:pPr indent="-317500" lvl="0" marL="457200" rtl="0" algn="l">
              <a:spcBef>
                <a:spcPts val="0"/>
              </a:spcBef>
              <a:spcAft>
                <a:spcPts val="0"/>
              </a:spcAft>
              <a:buSzPts val="1400"/>
              <a:buChar char="●"/>
            </a:pPr>
            <a:r>
              <a:rPr lang="en" sz="1400"/>
              <a:t>Some </a:t>
            </a:r>
            <a:r>
              <a:rPr lang="en" sz="1400"/>
              <a:t>websites</a:t>
            </a:r>
            <a:r>
              <a:rPr lang="en" sz="1400"/>
              <a:t> do not include images of the pets. </a:t>
            </a:r>
            <a:endParaRPr sz="1400"/>
          </a:p>
        </p:txBody>
      </p:sp>
      <p:sp>
        <p:nvSpPr>
          <p:cNvPr id="131" name="Google Shape;131;p24"/>
          <p:cNvSpPr txBox="1"/>
          <p:nvPr/>
        </p:nvSpPr>
        <p:spPr>
          <a:xfrm>
            <a:off x="311700" y="4225000"/>
            <a:ext cx="2189700" cy="6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Age: 23</a:t>
            </a:r>
            <a:endParaRPr sz="1300">
              <a:solidFill>
                <a:schemeClr val="dk2"/>
              </a:solidFill>
            </a:endParaRPr>
          </a:p>
          <a:p>
            <a:pPr indent="0" lvl="0" marL="0" rtl="0" algn="l">
              <a:spcBef>
                <a:spcPts val="0"/>
              </a:spcBef>
              <a:spcAft>
                <a:spcPts val="0"/>
              </a:spcAft>
              <a:buNone/>
            </a:pPr>
            <a:r>
              <a:rPr lang="en" sz="1300">
                <a:solidFill>
                  <a:schemeClr val="dk2"/>
                </a:solidFill>
              </a:rPr>
              <a:t>Location: New Haven, CT</a:t>
            </a:r>
            <a:endParaRPr sz="1300">
              <a:solidFill>
                <a:schemeClr val="dk2"/>
              </a:solidFill>
            </a:endParaRPr>
          </a:p>
        </p:txBody>
      </p:sp>
      <p:pic>
        <p:nvPicPr>
          <p:cNvPr id="132" name="Google Shape;132;p24"/>
          <p:cNvPicPr preferRelativeResize="0"/>
          <p:nvPr/>
        </p:nvPicPr>
        <p:blipFill rotWithShape="1">
          <a:blip r:embed="rId3">
            <a:alphaModFix/>
          </a:blip>
          <a:srcRect b="0" l="8786" r="26028" t="0"/>
          <a:stretch/>
        </p:blipFill>
        <p:spPr>
          <a:xfrm>
            <a:off x="311700" y="1152475"/>
            <a:ext cx="2451975" cy="2507625"/>
          </a:xfrm>
          <a:prstGeom prst="rect">
            <a:avLst/>
          </a:prstGeom>
          <a:noFill/>
          <a:ln>
            <a:noFill/>
          </a:ln>
        </p:spPr>
      </p:pic>
      <p:sp>
        <p:nvSpPr>
          <p:cNvPr id="133" name="Google Shape;133;p24"/>
          <p:cNvSpPr txBox="1"/>
          <p:nvPr/>
        </p:nvSpPr>
        <p:spPr>
          <a:xfrm>
            <a:off x="1053938" y="3711700"/>
            <a:ext cx="96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Caitlin</a:t>
            </a:r>
            <a:endParaRPr b="1"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Rayna’s Scenario</a:t>
            </a:r>
            <a:endParaRPr/>
          </a:p>
        </p:txBody>
      </p:sp>
      <p:sp>
        <p:nvSpPr>
          <p:cNvPr id="139" name="Google Shape;13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Caitlin opens the pet adoption app and logs in</a:t>
            </a:r>
            <a:endParaRPr/>
          </a:p>
          <a:p>
            <a:pPr indent="0" lvl="0" marL="0" rtl="0" algn="l">
              <a:spcBef>
                <a:spcPts val="1200"/>
              </a:spcBef>
              <a:spcAft>
                <a:spcPts val="0"/>
              </a:spcAft>
              <a:buNone/>
            </a:pPr>
            <a:r>
              <a:rPr lang="en"/>
              <a:t>She scrolls through the available pets on the app</a:t>
            </a:r>
            <a:endParaRPr/>
          </a:p>
          <a:p>
            <a:pPr indent="0" lvl="0" marL="0" rtl="0" algn="l">
              <a:spcBef>
                <a:spcPts val="1200"/>
              </a:spcBef>
              <a:spcAft>
                <a:spcPts val="0"/>
              </a:spcAft>
              <a:buNone/>
            </a:pPr>
            <a:r>
              <a:rPr lang="en"/>
              <a:t>She selects filters to narrow her search, selecting the filter for </a:t>
            </a:r>
            <a:r>
              <a:rPr lang="en"/>
              <a:t>small</a:t>
            </a:r>
            <a:r>
              <a:rPr lang="en"/>
              <a:t> dogs and </a:t>
            </a:r>
            <a:r>
              <a:rPr lang="en"/>
              <a:t>friendly</a:t>
            </a:r>
            <a:r>
              <a:rPr lang="en"/>
              <a:t> personality</a:t>
            </a:r>
            <a:endParaRPr/>
          </a:p>
          <a:p>
            <a:pPr indent="0" lvl="0" marL="0" rtl="0" algn="l">
              <a:spcBef>
                <a:spcPts val="1200"/>
              </a:spcBef>
              <a:spcAft>
                <a:spcPts val="0"/>
              </a:spcAft>
              <a:buNone/>
            </a:pPr>
            <a:r>
              <a:rPr lang="en"/>
              <a:t>She finds several potential matches, and clicks on each of them to read more</a:t>
            </a:r>
            <a:endParaRPr/>
          </a:p>
          <a:p>
            <a:pPr indent="0" lvl="0" marL="0" rtl="0" algn="l">
              <a:spcBef>
                <a:spcPts val="1200"/>
              </a:spcBef>
              <a:spcAft>
                <a:spcPts val="0"/>
              </a:spcAft>
              <a:buNone/>
            </a:pPr>
            <a:r>
              <a:rPr lang="en"/>
              <a:t>She finds a pet that she would like to adopt, so she fills out the </a:t>
            </a:r>
            <a:r>
              <a:rPr lang="en"/>
              <a:t>questionnaire</a:t>
            </a:r>
            <a:endParaRPr/>
          </a:p>
          <a:p>
            <a:pPr indent="0" lvl="0" marL="0" rtl="0" algn="l">
              <a:spcBef>
                <a:spcPts val="1200"/>
              </a:spcBef>
              <a:spcAft>
                <a:spcPts val="0"/>
              </a:spcAft>
              <a:buNone/>
            </a:pPr>
            <a:r>
              <a:rPr lang="en"/>
              <a:t>She waits for PAO management to approve the questionnaire, and in the meantime she logs out of the app</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Rayna’s User Stories</a:t>
            </a:r>
            <a:endParaRPr/>
          </a:p>
        </p:txBody>
      </p:sp>
      <p:sp>
        <p:nvSpPr>
          <p:cNvPr id="145" name="Google Shape;14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an adopter, Caitlin wants to be able to filter the pets available for adoption by personality and size, so that she can find a pet that will get along with her cat.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As an adopter, </a:t>
            </a:r>
            <a:r>
              <a:rPr lang="en"/>
              <a:t>Caitlin</a:t>
            </a:r>
            <a:r>
              <a:rPr lang="en"/>
              <a:t> wants the app to be user-</a:t>
            </a:r>
            <a:r>
              <a:rPr lang="en"/>
              <a:t>friendly</a:t>
            </a:r>
            <a:r>
              <a:rPr lang="en"/>
              <a:t> so she can easily find a pet she would like to adopt.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As an adopter, Caitlin wants the </a:t>
            </a:r>
            <a:r>
              <a:rPr lang="en"/>
              <a:t>questionnaire</a:t>
            </a:r>
            <a:r>
              <a:rPr lang="en"/>
              <a:t> to be easy to access on the app, so that the pet adoption process is seamless </a:t>
            </a:r>
            <a:r>
              <a:rPr lang="en"/>
              <a:t>when</a:t>
            </a:r>
            <a:r>
              <a:rPr lang="en"/>
              <a:t> she decides on a pet to adopt.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